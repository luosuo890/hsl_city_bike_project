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256" r:id="rId7"/>
    <p:sldId id="257" r:id="rId8"/>
    <p:sldId id="258" r:id="rId9"/>
    <p:sldId id="259" r:id="rId10"/>
    <p:sldId id="260" r:id="rId6"/>
    <p:sldId id="261" r:id="rId5"/>
  </p:sldIdLst>
  <p:sldSz cx="12192000" cy="6858000"/>
  <p:notesSz cx="6858000" cy="9144000"/>
  <p:defaultTextStyle>
    <a:defPPr>
      <a:defRPr lang="en-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5" Type="http://schemas.openxmlformats.org/officeDocument/2006/relationships/slide" Target="slides/slide6.xml"/><Relationship Id="rId6" Type="http://schemas.openxmlformats.org/officeDocument/2006/relationships/slide" Target="slides/slide5.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0:00-0:20 | Duration: 20 seconds | Word Count: 44 words</a:t>
            </a:r>
          </a:p>
          <a:p/>
          <a:p>
            <a:r>
              <a:t>Good morning. City-bike operators in Helsinki face a daily rebalancing headache: docks run empty during morning commutes and overflow by evening. Across nearly five million cleaned trips in 2024 and 2025, our goal is helping HSL planners triage critical stations before service disruptions occur.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0:20-0:55 | Duration: 35 seconds | Word Count: 73 words</a:t>
            </a:r>
          </a:p>
          <a:p/>
          <a:p>
            <a:r>
              <a:t>Looking at the thirty busiest stations across fourteen operating months, ridership follows a steep summer peak in July and August, contracting by more than half in shoulder months. Helsinki accounts for eighty-nine percent of volume, anchored by major rail hubs like Pasila and Central Railway Station. Daily trips correlate with warm summer days, but this reflects holiday schedules and long Nordic daylight rather than direct causation. This volume profile informs seasonal fleet sizing.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0:55-1:30 | Duration: 35 seconds | Word Count: 76 words</a:t>
            </a:r>
          </a:p>
          <a:p/>
          <a:p>
            <a:r>
              <a:t>Intraday patterns show that weekday evening peaks generate seventy-eight to ninety-six percent more trips than morning peaks. Simultaneously, stations undergo sharp tidal reversals. Residential docks like Sompasaari experience severe morning deficits as commuters leave, but accumulate heavy surpluses by evening. Conversely, workplace centers like Salmisaarenranta fill up in the morning and empty out after work. Meanwhile, Pasila rail station operates in continuous deficit throughout the entire day. These commuter swings dictate where rebalancing vans should stage.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1:30-2:05 | Duration: 35 seconds | Word Count: 59 words</a:t>
            </a:r>
          </a:p>
          <a:p/>
          <a:p>
            <a:r>
              <a:t>Mapping cumulative net flow across the network highlights structural rebalancing sinks in red and surplus sources in blue. Pasila railway station is the primary deficit bottleneck, accumulating an eleven-thousand trip deficit over two seasons. While this macro drift identifies priority candidates for rebalancing attention, it reflects passenger flow rather than exact physical bike inventory or rigid truck dispatch orders.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2:05-2:35 | Duration: 30 seconds | Word Count: 54 words</a:t>
            </a:r>
          </a:p>
          <a:p/>
          <a:p>
            <a:r>
              <a:t>When forecasting 2025 monthly demand, using the previous year's same month achieved the lowest volume error at 17.6% WAPE. The baseline naturally absorbs Nordic seasonal shifts without transitional delay. Meanwhile, Ridge regression helps screen high-deficit stations. This single-season test provides an empirical benchmark for fleet sizing, measured in monthly trip events, not missing bicycles.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2:35-3:00 | Duration: 25 seconds | Word Count: 47 words</a:t>
            </a:r>
          </a:p>
          <a:p/>
          <a:p>
            <a:r>
              <a:t>To conclude, operators should use the historical baseline for seasonal fleet sizing and net-flow rankings to prioritize rebalancing routes, such as pre-staging before the 16:00 evening surge. Connecting real-time dock telemetry is the essential next step before dispatching redistribution vans. Thank you, and we welcome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CF5BF1AA-B53D-48C6-AF27-B3B0895AC894}"/>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54B7D211-31B6-45AB-8D72-A54BD4CAD0BB}"/>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E3B3AF1B-3CF9-4805-B1BE-CB0DBF5BEBD4}"/>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F533A7CC-E824-4EE4-B335-F0ECABA85B4B}"/>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C2584383-AB49-4AD8-91A0-BC82A6240736}"/>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72EE5DE2-31D3-4D57-89E6-0B315816CD45}"/>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AE43B821-F9B4-4940-B6E5-1E01D0C1E817}"/>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7F5471AA-0E25-45C5-9FC5-C7E9DF07D878}"/>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16819E3F-3C88-4631-8651-A3F3CC573F6F}"/>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6D4BF16E-C85C-4B55-B3DF-3B4FA7136DB3}"/>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313A"/>
        </a:solidFill>
        <a:effectLst/>
      </p:bgPr>
    </p:bg>
    <p:spTree>
      <p:nvGrpSpPr>
        <p:cNvPr id="1" name=""/>
        <p:cNvGrpSpPr/>
        <p:nvPr/>
      </p:nvGrpSpPr>
      <p:grpSpPr/>
      <p:sp>
        <p:nvSpPr>
          <p:cNvPr id="2" name="TextBox 1"/>
          <p:cNvSpPr txBox="1"/>
          <p:nvPr/>
        </p:nvSpPr>
        <p:spPr>
          <a:xfrm>
            <a:off x="731520" y="347472"/>
            <a:ext cx="9601200" cy="274320"/>
          </a:xfrm>
          <a:prstGeom prst="rect">
            <a:avLst/>
          </a:prstGeom>
          <a:noFill/>
        </p:spPr>
        <p:txBody>
          <a:bodyPr wrap="square" lIns="0" rIns="0" tIns="0" bIns="0">
            <a:spAutoFit/>
          </a:bodyPr>
          <a:lstStyle/>
          <a:p>
            <a:pPr>
              <a:defRPr sz="1100" b="1">
                <a:solidFill>
                  <a:srgbClr val="A6DCDD"/>
                </a:solidFill>
                <a:latin typeface="Aptos"/>
              </a:defRPr>
            </a:pPr>
            <a:r>
              <a:t>01 | OPERATIONAL CHALLENGE</a:t>
            </a:r>
          </a:p>
        </p:txBody>
      </p:sp>
      <p:sp>
        <p:nvSpPr>
          <p:cNvPr id="3" name="TextBox 2"/>
          <p:cNvSpPr txBox="1"/>
          <p:nvPr/>
        </p:nvSpPr>
        <p:spPr>
          <a:xfrm>
            <a:off x="731520" y="621792"/>
            <a:ext cx="10058400" cy="502920"/>
          </a:xfrm>
          <a:prstGeom prst="rect">
            <a:avLst/>
          </a:prstGeom>
          <a:noFill/>
        </p:spPr>
        <p:txBody>
          <a:bodyPr wrap="square" lIns="0" rIns="0" tIns="0" bIns="0">
            <a:spAutoFit/>
          </a:bodyPr>
          <a:lstStyle/>
          <a:p>
            <a:pPr>
              <a:defRPr sz="2300" b="1">
                <a:solidFill>
                  <a:srgbClr val="FFFFFF"/>
                </a:solidFill>
                <a:latin typeface="Aptos"/>
              </a:defRPr>
            </a:pPr>
            <a:r>
              <a:t>Anticipating Urban Bike Depletion &amp; Dock Congestion</a:t>
            </a:r>
          </a:p>
        </p:txBody>
      </p:sp>
      <p:sp>
        <p:nvSpPr>
          <p:cNvPr id="4" name="TextBox 3"/>
          <p:cNvSpPr txBox="1"/>
          <p:nvPr/>
        </p:nvSpPr>
        <p:spPr>
          <a:xfrm>
            <a:off x="731520" y="1133856"/>
            <a:ext cx="10058400" cy="347472"/>
          </a:xfrm>
          <a:prstGeom prst="rect">
            <a:avLst/>
          </a:prstGeom>
          <a:noFill/>
        </p:spPr>
        <p:txBody>
          <a:bodyPr wrap="square" lIns="0" rIns="0" tIns="0" bIns="0">
            <a:spAutoFit/>
          </a:bodyPr>
          <a:lstStyle/>
          <a:p>
            <a:pPr>
              <a:defRPr sz="1250">
                <a:solidFill>
                  <a:srgbClr val="C8DBDD"/>
                </a:solidFill>
                <a:latin typeface="Aptos"/>
              </a:defRPr>
            </a:pPr>
            <a:r>
              <a:t>HSL City-Bike Rebalancing Insights Across 457 Stations &amp; 4.98 Million Trips (2024–2025)</a:t>
            </a:r>
          </a:p>
        </p:txBody>
      </p:sp>
      <p:sp>
        <p:nvSpPr>
          <p:cNvPr id="5" name="TextBox 4"/>
          <p:cNvSpPr txBox="1"/>
          <p:nvPr/>
        </p:nvSpPr>
        <p:spPr>
          <a:xfrm>
            <a:off x="10515600" y="6309360"/>
            <a:ext cx="914400" cy="274320"/>
          </a:xfrm>
          <a:prstGeom prst="rect">
            <a:avLst/>
          </a:prstGeom>
          <a:noFill/>
        </p:spPr>
        <p:txBody>
          <a:bodyPr wrap="none" lIns="0" rIns="0" tIns="0" bIns="0">
            <a:spAutoFit/>
          </a:bodyPr>
          <a:lstStyle/>
          <a:p>
            <a:pPr algn="r">
              <a:defRPr sz="1100" b="1">
                <a:solidFill>
                  <a:srgbClr val="9CBABC"/>
                </a:solidFill>
                <a:latin typeface="Aptos"/>
              </a:defRPr>
            </a:pPr>
            <a:r>
              <a:t>01 / 06</a:t>
            </a:r>
          </a:p>
        </p:txBody>
      </p:sp>
      <p:sp>
        <p:nvSpPr>
          <p:cNvPr id="6" name="Rounded Rectangle 5"/>
          <p:cNvSpPr/>
          <p:nvPr/>
        </p:nvSpPr>
        <p:spPr>
          <a:xfrm>
            <a:off x="731520" y="1737360"/>
            <a:ext cx="10725912" cy="3291840"/>
          </a:xfrm>
          <a:prstGeom prst="roundRect">
            <a:avLst/>
          </a:prstGeom>
          <a:solidFill>
            <a:srgbClr val="19414D"/>
          </a:solidFill>
          <a:ln w="12700">
            <a:solidFill>
              <a:srgbClr val="265A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011680"/>
            <a:ext cx="9966960" cy="1280160"/>
          </a:xfrm>
          <a:prstGeom prst="rect">
            <a:avLst/>
          </a:prstGeom>
          <a:noFill/>
        </p:spPr>
        <p:txBody>
          <a:bodyPr wrap="square">
            <a:spAutoFit/>
          </a:bodyPr>
          <a:lstStyle/>
          <a:p>
            <a:pPr>
              <a:defRPr sz="2400" b="1">
                <a:solidFill>
                  <a:srgbClr val="FFFFFF"/>
                </a:solidFill>
                <a:latin typeface="Aptos"/>
              </a:defRPr>
            </a:pPr>
            <a:r>
              <a:t>How can HSL city-bike operators anticipate where bikes deplete</a:t>
            </a:r>
          </a:p>
          <a:p>
            <a:pPr>
              <a:spcBef>
                <a:spcPts val="400"/>
              </a:spcBef>
              <a:defRPr sz="2400" b="1">
                <a:solidFill>
                  <a:srgbClr val="A6DCDD"/>
                </a:solidFill>
                <a:latin typeface="Aptos"/>
              </a:defRPr>
            </a:pPr>
            <a:r>
              <a:t>and docks saturate across 457 stations in Helsinki and Espoo?</a:t>
            </a:r>
          </a:p>
        </p:txBody>
      </p:sp>
      <p:sp>
        <p:nvSpPr>
          <p:cNvPr id="8" name="Rounded Rectangle 7"/>
          <p:cNvSpPr/>
          <p:nvPr/>
        </p:nvSpPr>
        <p:spPr>
          <a:xfrm>
            <a:off x="1097280" y="3383280"/>
            <a:ext cx="3154680" cy="1371600"/>
          </a:xfrm>
          <a:prstGeom prst="roundRect">
            <a:avLst/>
          </a:prstGeom>
          <a:solidFill>
            <a:srgbClr val="12313A"/>
          </a:solidFill>
          <a:ln w="12700">
            <a:solidFill>
              <a:srgbClr val="265A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61872" y="3520440"/>
            <a:ext cx="2825496" cy="1097280"/>
          </a:xfrm>
          <a:prstGeom prst="rect">
            <a:avLst/>
          </a:prstGeom>
          <a:noFill/>
        </p:spPr>
        <p:txBody>
          <a:bodyPr wrap="square">
            <a:spAutoFit/>
          </a:bodyPr>
          <a:lstStyle/>
          <a:p>
            <a:pPr>
              <a:defRPr sz="1400" b="1">
                <a:solidFill>
                  <a:srgbClr val="A6DCDD"/>
                </a:solidFill>
                <a:latin typeface="Aptos"/>
              </a:defRPr>
            </a:pPr>
            <a:r>
              <a:t>Macro Seasonality</a:t>
            </a:r>
          </a:p>
          <a:p>
            <a:pPr>
              <a:spcBef>
                <a:spcPts val="400"/>
              </a:spcBef>
              <a:defRPr sz="1000">
                <a:solidFill>
                  <a:srgbClr val="C8DBDD"/>
                </a:solidFill>
                <a:latin typeface="Aptos"/>
              </a:defRPr>
            </a:pPr>
            <a:r>
              <a:t>14 operating months (2024–2025)</a:t>
            </a:r>
            <a:br/>
            <a:r>
              <a:t>Unimodal summer peak &amp; shoulder contraction</a:t>
            </a:r>
          </a:p>
        </p:txBody>
      </p:sp>
      <p:sp>
        <p:nvSpPr>
          <p:cNvPr id="10" name="Rounded Rectangle 9"/>
          <p:cNvSpPr/>
          <p:nvPr/>
        </p:nvSpPr>
        <p:spPr>
          <a:xfrm>
            <a:off x="4526280" y="3383280"/>
            <a:ext cx="3154680" cy="1371600"/>
          </a:xfrm>
          <a:prstGeom prst="roundRect">
            <a:avLst/>
          </a:prstGeom>
          <a:solidFill>
            <a:srgbClr val="12313A"/>
          </a:solidFill>
          <a:ln w="12700">
            <a:solidFill>
              <a:srgbClr val="265A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90872" y="3520440"/>
            <a:ext cx="2825496" cy="1097280"/>
          </a:xfrm>
          <a:prstGeom prst="rect">
            <a:avLst/>
          </a:prstGeom>
          <a:noFill/>
        </p:spPr>
        <p:txBody>
          <a:bodyPr wrap="square">
            <a:spAutoFit/>
          </a:bodyPr>
          <a:lstStyle/>
          <a:p>
            <a:pPr>
              <a:defRPr sz="1400" b="1">
                <a:solidFill>
                  <a:srgbClr val="A6DCDD"/>
                </a:solidFill>
                <a:latin typeface="Aptos"/>
              </a:defRPr>
            </a:pPr>
            <a:r>
              <a:t>Commuter Tidal Swings</a:t>
            </a:r>
          </a:p>
          <a:p>
            <a:pPr>
              <a:spcBef>
                <a:spcPts val="400"/>
              </a:spcBef>
              <a:defRPr sz="1000">
                <a:solidFill>
                  <a:srgbClr val="C8DBDD"/>
                </a:solidFill>
                <a:latin typeface="Aptos"/>
              </a:defRPr>
            </a:pPr>
            <a:r>
              <a:t>+78% evening rush surge</a:t>
            </a:r>
            <a:br/>
            <a:r>
              <a:t>Opposing morning vs. evening tidal flows</a:t>
            </a:r>
          </a:p>
        </p:txBody>
      </p:sp>
      <p:sp>
        <p:nvSpPr>
          <p:cNvPr id="12" name="Rounded Rectangle 11"/>
          <p:cNvSpPr/>
          <p:nvPr/>
        </p:nvSpPr>
        <p:spPr>
          <a:xfrm>
            <a:off x="7955279" y="3383280"/>
            <a:ext cx="3154680" cy="1371600"/>
          </a:xfrm>
          <a:prstGeom prst="roundRect">
            <a:avLst/>
          </a:prstGeom>
          <a:solidFill>
            <a:srgbClr val="12313A"/>
          </a:solidFill>
          <a:ln w="12700">
            <a:solidFill>
              <a:srgbClr val="265A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19871" y="3520440"/>
            <a:ext cx="2825496" cy="1097280"/>
          </a:xfrm>
          <a:prstGeom prst="rect">
            <a:avLst/>
          </a:prstGeom>
          <a:noFill/>
        </p:spPr>
        <p:txBody>
          <a:bodyPr wrap="square">
            <a:spAutoFit/>
          </a:bodyPr>
          <a:lstStyle/>
          <a:p>
            <a:pPr>
              <a:defRPr sz="1400" b="1">
                <a:solidFill>
                  <a:srgbClr val="A6DCDD"/>
                </a:solidFill>
                <a:latin typeface="Aptos"/>
              </a:defRPr>
            </a:pPr>
            <a:r>
              <a:t>Operational Triage</a:t>
            </a:r>
          </a:p>
          <a:p>
            <a:pPr>
              <a:spcBef>
                <a:spcPts val="400"/>
              </a:spcBef>
              <a:defRPr sz="1000">
                <a:solidFill>
                  <a:srgbClr val="C8DBDD"/>
                </a:solidFill>
                <a:latin typeface="Aptos"/>
              </a:defRPr>
            </a:pPr>
            <a:r>
              <a:t>Identifying structural transit sinks</a:t>
            </a:r>
            <a:br/>
            <a:r>
              <a:t>Same-month baseline for fleet sizing</a:t>
            </a:r>
          </a:p>
        </p:txBody>
      </p:sp>
      <p:sp>
        <p:nvSpPr>
          <p:cNvPr id="14" name="TextBox 13"/>
          <p:cNvSpPr txBox="1"/>
          <p:nvPr/>
        </p:nvSpPr>
        <p:spPr>
          <a:xfrm>
            <a:off x="731520" y="5532120"/>
            <a:ext cx="9601200" cy="502920"/>
          </a:xfrm>
          <a:prstGeom prst="rect">
            <a:avLst/>
          </a:prstGeom>
          <a:noFill/>
        </p:spPr>
        <p:txBody>
          <a:bodyPr wrap="square">
            <a:spAutoFit/>
          </a:bodyPr>
          <a:lstStyle/>
          <a:p>
            <a:pPr>
              <a:defRPr sz="1300" b="1">
                <a:solidFill>
                  <a:srgbClr val="FFFFFF"/>
                </a:solidFill>
                <a:latin typeface="Aptos"/>
              </a:defRPr>
            </a:pPr>
            <a:r>
              <a:t>Authors: Chenyu Wu  ·  Jizhou Wang  ·  Jussi Honkio</a:t>
            </a:r>
          </a:p>
          <a:p>
            <a:pPr>
              <a:spcBef>
                <a:spcPts val="200"/>
              </a:spcBef>
              <a:defRPr sz="1050">
                <a:solidFill>
                  <a:srgbClr val="C8DBDD"/>
                </a:solidFill>
                <a:latin typeface="Aptos"/>
              </a:defRPr>
            </a:pPr>
            <a:r>
              <a:t>University of Helsinki · Introduction to Data Science · Canvas Mini-Project Spotlight Session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AFA"/>
        </a:solidFill>
        <a:effectLst/>
      </p:bgPr>
    </p:bg>
    <p:spTree>
      <p:nvGrpSpPr>
        <p:cNvPr id="1" name=""/>
        <p:cNvGrpSpPr/>
        <p:nvPr/>
      </p:nvGrpSpPr>
      <p:grpSpPr/>
      <p:sp>
        <p:nvSpPr>
          <p:cNvPr id="2" name="TextBox 1"/>
          <p:cNvSpPr txBox="1"/>
          <p:nvPr/>
        </p:nvSpPr>
        <p:spPr>
          <a:xfrm>
            <a:off x="731520" y="347472"/>
            <a:ext cx="9601200" cy="274320"/>
          </a:xfrm>
          <a:prstGeom prst="rect">
            <a:avLst/>
          </a:prstGeom>
          <a:noFill/>
        </p:spPr>
        <p:txBody>
          <a:bodyPr wrap="square" lIns="0" rIns="0" tIns="0" bIns="0">
            <a:spAutoFit/>
          </a:bodyPr>
          <a:lstStyle/>
          <a:p>
            <a:pPr>
              <a:defRPr sz="1100" b="1">
                <a:solidFill>
                  <a:srgbClr val="007E87"/>
                </a:solidFill>
                <a:latin typeface="Aptos"/>
              </a:defRPr>
            </a:pPr>
            <a:r>
              <a:t>02 | SEASONAL CONCENTRATION</a:t>
            </a:r>
          </a:p>
        </p:txBody>
      </p:sp>
      <p:sp>
        <p:nvSpPr>
          <p:cNvPr id="3" name="TextBox 2"/>
          <p:cNvSpPr txBox="1"/>
          <p:nvPr/>
        </p:nvSpPr>
        <p:spPr>
          <a:xfrm>
            <a:off x="731520" y="621792"/>
            <a:ext cx="10058400" cy="502920"/>
          </a:xfrm>
          <a:prstGeom prst="rect">
            <a:avLst/>
          </a:prstGeom>
          <a:noFill/>
        </p:spPr>
        <p:txBody>
          <a:bodyPr wrap="square" lIns="0" rIns="0" tIns="0" bIns="0">
            <a:spAutoFit/>
          </a:bodyPr>
          <a:lstStyle/>
          <a:p>
            <a:pPr>
              <a:defRPr sz="2300" b="1">
                <a:solidFill>
                  <a:srgbClr val="12313A"/>
                </a:solidFill>
                <a:latin typeface="Aptos"/>
              </a:defRPr>
            </a:pPr>
            <a:r>
              <a:t>Summer Peaks at Nearly 500k Monthly Trips, Anchored by Major Rail Hubs</a:t>
            </a:r>
          </a:p>
        </p:txBody>
      </p:sp>
      <p:sp>
        <p:nvSpPr>
          <p:cNvPr id="4" name="TextBox 3"/>
          <p:cNvSpPr txBox="1"/>
          <p:nvPr/>
        </p:nvSpPr>
        <p:spPr>
          <a:xfrm>
            <a:off x="731520" y="1133856"/>
            <a:ext cx="10058400" cy="347472"/>
          </a:xfrm>
          <a:prstGeom prst="rect">
            <a:avLst/>
          </a:prstGeom>
          <a:noFill/>
        </p:spPr>
        <p:txBody>
          <a:bodyPr wrap="square" lIns="0" rIns="0" tIns="0" bIns="0">
            <a:spAutoFit/>
          </a:bodyPr>
          <a:lstStyle/>
          <a:p>
            <a:pPr>
              <a:defRPr sz="1250">
                <a:solidFill>
                  <a:srgbClr val="547078"/>
                </a:solidFill>
                <a:latin typeface="Aptos"/>
              </a:defRPr>
            </a:pPr>
            <a:r>
              <a:t>Station-Month Departures Across Two Full Seasons (April–October, 2024 &amp; 2025)</a:t>
            </a:r>
          </a:p>
        </p:txBody>
      </p:sp>
      <p:sp>
        <p:nvSpPr>
          <p:cNvPr id="5" name="TextBox 4"/>
          <p:cNvSpPr txBox="1"/>
          <p:nvPr/>
        </p:nvSpPr>
        <p:spPr>
          <a:xfrm>
            <a:off x="10515600" y="6309360"/>
            <a:ext cx="914400" cy="274320"/>
          </a:xfrm>
          <a:prstGeom prst="rect">
            <a:avLst/>
          </a:prstGeom>
          <a:noFill/>
        </p:spPr>
        <p:txBody>
          <a:bodyPr wrap="none" lIns="0" rIns="0" tIns="0" bIns="0">
            <a:spAutoFit/>
          </a:bodyPr>
          <a:lstStyle/>
          <a:p>
            <a:pPr algn="r">
              <a:defRPr sz="1100" b="1">
                <a:solidFill>
                  <a:srgbClr val="547078"/>
                </a:solidFill>
                <a:latin typeface="Aptos"/>
              </a:defRPr>
            </a:pPr>
            <a:r>
              <a:t>02 / 06</a:t>
            </a:r>
          </a:p>
        </p:txBody>
      </p:sp>
      <p:pic>
        <p:nvPicPr>
          <p:cNvPr id="6" name="Picture 5" descr="fig2_station_month_demand_heatmap.png"/>
          <p:cNvPicPr>
            <a:picLocks noChangeAspect="1"/>
          </p:cNvPicPr>
          <p:nvPr/>
        </p:nvPicPr>
        <p:blipFill>
          <a:blip r:embed="rId2"/>
          <a:stretch>
            <a:fillRect/>
          </a:stretch>
        </p:blipFill>
        <p:spPr>
          <a:xfrm>
            <a:off x="731520" y="1645920"/>
            <a:ext cx="6309360" cy="4572000"/>
          </a:xfrm>
          <a:prstGeom prst="rect">
            <a:avLst/>
          </a:prstGeom>
        </p:spPr>
      </p:pic>
      <p:sp>
        <p:nvSpPr>
          <p:cNvPr id="7" name="Rounded Rectangle 6"/>
          <p:cNvSpPr/>
          <p:nvPr/>
        </p:nvSpPr>
        <p:spPr>
          <a:xfrm>
            <a:off x="7269480" y="1645920"/>
            <a:ext cx="4187952" cy="2148840"/>
          </a:xfrm>
          <a:prstGeom prst="roundRect">
            <a:avLst/>
          </a:prstGeom>
          <a:solidFill>
            <a:srgbClr val="FFFFFF"/>
          </a:solidFill>
          <a:ln w="12700">
            <a:solidFill>
              <a:srgbClr val="DCE6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52360" y="1783080"/>
            <a:ext cx="3822192" cy="1874519"/>
          </a:xfrm>
          <a:prstGeom prst="rect">
            <a:avLst/>
          </a:prstGeom>
          <a:noFill/>
        </p:spPr>
        <p:txBody>
          <a:bodyPr wrap="square">
            <a:spAutoFit/>
          </a:bodyPr>
          <a:lstStyle/>
          <a:p>
            <a:pPr>
              <a:defRPr sz="1500" b="1">
                <a:solidFill>
                  <a:srgbClr val="007E87"/>
                </a:solidFill>
                <a:latin typeface="Aptos"/>
              </a:defRPr>
            </a:pPr>
            <a:r>
              <a:t>Sharp Unimodal Summer Envelope</a:t>
            </a:r>
          </a:p>
          <a:p>
            <a:pPr>
              <a:spcBef>
                <a:spcPts val="500"/>
              </a:spcBef>
            </a:pPr>
            <a:r>
              <a:rPr b="1" sz="1000">
                <a:solidFill>
                  <a:srgbClr val="12313A"/>
                </a:solidFill>
              </a:rPr>
              <a:t>• Summer Peak: </a:t>
            </a:r>
            <a:r>
              <a:rPr sz="950">
                <a:solidFill>
                  <a:srgbClr val="547078"/>
                </a:solidFill>
              </a:rPr>
              <a:t>Monthly demand peaks in July/August at ~450k–492k trips, then contracts sharply by over 50% in shoulder months (April: 162k–243k; October: 198k–207k).</a:t>
            </a:r>
          </a:p>
          <a:p>
            <a:pPr>
              <a:spcBef>
                <a:spcPts val="500"/>
              </a:spcBef>
            </a:pPr>
            <a:r>
              <a:rPr b="1" sz="1000">
                <a:solidFill>
                  <a:srgbClr val="12313A"/>
                </a:solidFill>
              </a:rPr>
              <a:t>• Regional Share: </a:t>
            </a:r>
            <a:r>
              <a:rPr sz="950">
                <a:solidFill>
                  <a:srgbClr val="547078"/>
                </a:solidFill>
              </a:rPr>
              <a:t>Helsinki commands 88.8% of total ridership; Espoo accounts for 11.2% centered around metro stations and universities.</a:t>
            </a:r>
          </a:p>
        </p:txBody>
      </p:sp>
      <p:sp>
        <p:nvSpPr>
          <p:cNvPr id="9" name="Rounded Rectangle 8"/>
          <p:cNvSpPr/>
          <p:nvPr/>
        </p:nvSpPr>
        <p:spPr>
          <a:xfrm>
            <a:off x="7269480" y="3977639"/>
            <a:ext cx="4187952" cy="2240280"/>
          </a:xfrm>
          <a:prstGeom prst="roundRect">
            <a:avLst/>
          </a:prstGeom>
          <a:solidFill>
            <a:srgbClr val="FFFFFF"/>
          </a:solidFill>
          <a:ln w="12700">
            <a:solidFill>
              <a:srgbClr val="DCE6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52360" y="4114800"/>
            <a:ext cx="3822192" cy="1965960"/>
          </a:xfrm>
          <a:prstGeom prst="rect">
            <a:avLst/>
          </a:prstGeom>
          <a:noFill/>
        </p:spPr>
        <p:txBody>
          <a:bodyPr wrap="square">
            <a:spAutoFit/>
          </a:bodyPr>
          <a:lstStyle/>
          <a:p>
            <a:pPr>
              <a:defRPr sz="1500" b="1">
                <a:solidFill>
                  <a:srgbClr val="007E87"/>
                </a:solidFill>
                <a:latin typeface="Aptos"/>
              </a:defRPr>
            </a:pPr>
            <a:r>
              <a:t>Transit Hub Sinks &amp; Weather Context</a:t>
            </a:r>
          </a:p>
          <a:p>
            <a:pPr>
              <a:spcBef>
                <a:spcPts val="500"/>
              </a:spcBef>
            </a:pPr>
            <a:r>
              <a:rPr b="1" sz="1000">
                <a:solidFill>
                  <a:srgbClr val="12313A"/>
                </a:solidFill>
              </a:rPr>
              <a:t>• Transit Anchors: </a:t>
            </a:r>
            <a:r>
              <a:rPr sz="950">
                <a:solidFill>
                  <a:srgbClr val="547078"/>
                </a:solidFill>
              </a:rPr>
              <a:t>Top stations (Pasila station, Central Railway, Kalasatama, Itämerentori) sustain over 5,000–9,000 monthly departures throughout summer.</a:t>
            </a:r>
          </a:p>
          <a:p>
            <a:pPr>
              <a:spcBef>
                <a:spcPts val="500"/>
              </a:spcBef>
            </a:pPr>
            <a:r>
              <a:rPr b="1" sz="1000">
                <a:solidFill>
                  <a:srgbClr val="12313A"/>
                </a:solidFill>
              </a:rPr>
              <a:t>• Descriptive Weather: </a:t>
            </a:r>
            <a:r>
              <a:rPr sz="950">
                <a:solidFill>
                  <a:srgbClr val="547078"/>
                </a:solidFill>
              </a:rPr>
              <a:t>Daily ridership correlates with mean temperature (r = +0.74) and rain (r = -0.25). Reflects seasonal daylight (19h June vs. 9h Oct) and holidays; strictly non-causal.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AFA"/>
        </a:solidFill>
        <a:effectLst/>
      </p:bgPr>
    </p:bg>
    <p:spTree>
      <p:nvGrpSpPr>
        <p:cNvPr id="1" name=""/>
        <p:cNvGrpSpPr/>
        <p:nvPr/>
      </p:nvGrpSpPr>
      <p:grpSpPr/>
      <p:sp>
        <p:nvSpPr>
          <p:cNvPr id="2" name="TextBox 1"/>
          <p:cNvSpPr txBox="1"/>
          <p:nvPr/>
        </p:nvSpPr>
        <p:spPr>
          <a:xfrm>
            <a:off x="731520" y="347472"/>
            <a:ext cx="9601200" cy="274320"/>
          </a:xfrm>
          <a:prstGeom prst="rect">
            <a:avLst/>
          </a:prstGeom>
          <a:noFill/>
        </p:spPr>
        <p:txBody>
          <a:bodyPr wrap="square" lIns="0" rIns="0" tIns="0" bIns="0">
            <a:spAutoFit/>
          </a:bodyPr>
          <a:lstStyle/>
          <a:p>
            <a:pPr>
              <a:defRPr sz="1100" b="1">
                <a:solidFill>
                  <a:srgbClr val="007E87"/>
                </a:solidFill>
                <a:latin typeface="Aptos"/>
              </a:defRPr>
            </a:pPr>
            <a:r>
              <a:t>03 | INTRADAY COMMUTE DYNAMICS</a:t>
            </a:r>
          </a:p>
        </p:txBody>
      </p:sp>
      <p:sp>
        <p:nvSpPr>
          <p:cNvPr id="3" name="TextBox 2"/>
          <p:cNvSpPr txBox="1"/>
          <p:nvPr/>
        </p:nvSpPr>
        <p:spPr>
          <a:xfrm>
            <a:off x="731520" y="621792"/>
            <a:ext cx="10058400" cy="502920"/>
          </a:xfrm>
          <a:prstGeom prst="rect">
            <a:avLst/>
          </a:prstGeom>
          <a:noFill/>
        </p:spPr>
        <p:txBody>
          <a:bodyPr wrap="square" lIns="0" rIns="0" tIns="0" bIns="0">
            <a:spAutoFit/>
          </a:bodyPr>
          <a:lstStyle/>
          <a:p>
            <a:pPr>
              <a:defRPr sz="2300" b="1">
                <a:solidFill>
                  <a:srgbClr val="12313A"/>
                </a:solidFill>
                <a:latin typeface="Aptos"/>
              </a:defRPr>
            </a:pPr>
            <a:r>
              <a:t>Weekday Evening Demand Surges +78%, Reversing Station Net Flows</a:t>
            </a:r>
          </a:p>
        </p:txBody>
      </p:sp>
      <p:sp>
        <p:nvSpPr>
          <p:cNvPr id="4" name="TextBox 3"/>
          <p:cNvSpPr txBox="1"/>
          <p:nvPr/>
        </p:nvSpPr>
        <p:spPr>
          <a:xfrm>
            <a:off x="731520" y="1133856"/>
            <a:ext cx="10058400" cy="347472"/>
          </a:xfrm>
          <a:prstGeom prst="rect">
            <a:avLst/>
          </a:prstGeom>
          <a:noFill/>
        </p:spPr>
        <p:txBody>
          <a:bodyPr wrap="square" lIns="0" rIns="0" tIns="0" bIns="0">
            <a:spAutoFit/>
          </a:bodyPr>
          <a:lstStyle/>
          <a:p>
            <a:pPr>
              <a:defRPr sz="1250">
                <a:solidFill>
                  <a:srgbClr val="547078"/>
                </a:solidFill>
                <a:latin typeface="Aptos"/>
              </a:defRPr>
            </a:pPr>
            <a:r>
              <a:t>Standardized Peak Windows (07:00–09:00 vs. 16:00–18:00) Reveal Polarized Commuter Swings</a:t>
            </a:r>
          </a:p>
        </p:txBody>
      </p:sp>
      <p:sp>
        <p:nvSpPr>
          <p:cNvPr id="5" name="TextBox 4"/>
          <p:cNvSpPr txBox="1"/>
          <p:nvPr/>
        </p:nvSpPr>
        <p:spPr>
          <a:xfrm>
            <a:off x="10515600" y="6309360"/>
            <a:ext cx="914400" cy="274320"/>
          </a:xfrm>
          <a:prstGeom prst="rect">
            <a:avLst/>
          </a:prstGeom>
          <a:noFill/>
        </p:spPr>
        <p:txBody>
          <a:bodyPr wrap="none" lIns="0" rIns="0" tIns="0" bIns="0">
            <a:spAutoFit/>
          </a:bodyPr>
          <a:lstStyle/>
          <a:p>
            <a:pPr algn="r">
              <a:defRPr sz="1100" b="1">
                <a:solidFill>
                  <a:srgbClr val="547078"/>
                </a:solidFill>
                <a:latin typeface="Aptos"/>
              </a:defRPr>
            </a:pPr>
            <a:r>
              <a:t>03 / 06</a:t>
            </a:r>
          </a:p>
        </p:txBody>
      </p:sp>
      <p:pic>
        <p:nvPicPr>
          <p:cNvPr id="6" name="Picture 5" descr="fig6_morning_vs_evening_peak_station_comparison.png"/>
          <p:cNvPicPr>
            <a:picLocks noChangeAspect="1"/>
          </p:cNvPicPr>
          <p:nvPr/>
        </p:nvPicPr>
        <p:blipFill>
          <a:blip r:embed="rId2"/>
          <a:stretch>
            <a:fillRect/>
          </a:stretch>
        </p:blipFill>
        <p:spPr>
          <a:xfrm>
            <a:off x="731520" y="1645920"/>
            <a:ext cx="6766560" cy="4572000"/>
          </a:xfrm>
          <a:prstGeom prst="rect">
            <a:avLst/>
          </a:prstGeom>
        </p:spPr>
      </p:pic>
      <p:sp>
        <p:nvSpPr>
          <p:cNvPr id="7" name="Rounded Rectangle 6"/>
          <p:cNvSpPr/>
          <p:nvPr/>
        </p:nvSpPr>
        <p:spPr>
          <a:xfrm>
            <a:off x="7726679" y="1645920"/>
            <a:ext cx="3730752" cy="2148840"/>
          </a:xfrm>
          <a:prstGeom prst="roundRect">
            <a:avLst/>
          </a:prstGeom>
          <a:solidFill>
            <a:srgbClr val="FFFFFF"/>
          </a:solidFill>
          <a:ln w="12700">
            <a:solidFill>
              <a:srgbClr val="DCE6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09559" y="1783080"/>
            <a:ext cx="3364992" cy="1874519"/>
          </a:xfrm>
          <a:prstGeom prst="rect">
            <a:avLst/>
          </a:prstGeom>
          <a:noFill/>
        </p:spPr>
        <p:txBody>
          <a:bodyPr wrap="square">
            <a:spAutoFit/>
          </a:bodyPr>
          <a:lstStyle/>
          <a:p>
            <a:pPr>
              <a:defRPr sz="1500" b="1">
                <a:solidFill>
                  <a:srgbClr val="007E87"/>
                </a:solidFill>
                <a:latin typeface="Aptos"/>
              </a:defRPr>
            </a:pPr>
            <a:r>
              <a:t>Evening Rush Surge (+78% to +96%)</a:t>
            </a:r>
          </a:p>
          <a:p>
            <a:pPr>
              <a:spcBef>
                <a:spcPts val="400"/>
              </a:spcBef>
            </a:pPr>
            <a:r>
              <a:rPr b="1" sz="1000">
                <a:solidFill>
                  <a:srgbClr val="12313A"/>
                </a:solidFill>
              </a:rPr>
              <a:t>• Helsinki 2025: </a:t>
            </a:r>
            <a:r>
              <a:rPr sz="950">
                <a:solidFill>
                  <a:srgbClr val="547078"/>
                </a:solidFill>
              </a:rPr>
              <a:t>Morning 1,208 trips/day → Evening 2,154 trips/day (+78.4% surge).</a:t>
            </a:r>
          </a:p>
          <a:p>
            <a:pPr>
              <a:spcBef>
                <a:spcPts val="400"/>
              </a:spcBef>
            </a:pPr>
            <a:r>
              <a:rPr b="1" sz="1000">
                <a:solidFill>
                  <a:srgbClr val="12313A"/>
                </a:solidFill>
              </a:rPr>
              <a:t>• Espoo 2025: </a:t>
            </a:r>
            <a:r>
              <a:rPr sz="950">
                <a:solidFill>
                  <a:srgbClr val="547078"/>
                </a:solidFill>
              </a:rPr>
              <a:t>Morning 141 trips/day → Evening 276 trips/day (+95.9% surge).</a:t>
            </a:r>
          </a:p>
          <a:p>
            <a:pPr>
              <a:spcBef>
                <a:spcPts val="400"/>
              </a:spcBef>
            </a:pPr>
            <a:r>
              <a:rPr b="1" sz="1000">
                <a:solidFill>
                  <a:srgbClr val="12313A"/>
                </a:solidFill>
              </a:rPr>
              <a:t>• Behavioral Driver: </a:t>
            </a:r>
            <a:r>
              <a:rPr sz="950">
                <a:solidFill>
                  <a:srgbClr val="547078"/>
                </a:solidFill>
              </a:rPr>
              <a:t>Morning trips are utilitarian work commutes. Evening trips blend homeward travel with retail, dining, and recreation under evening daylight.</a:t>
            </a:r>
          </a:p>
        </p:txBody>
      </p:sp>
      <p:sp>
        <p:nvSpPr>
          <p:cNvPr id="9" name="Rounded Rectangle 8"/>
          <p:cNvSpPr/>
          <p:nvPr/>
        </p:nvSpPr>
        <p:spPr>
          <a:xfrm>
            <a:off x="7726679" y="3977639"/>
            <a:ext cx="3730752" cy="2240280"/>
          </a:xfrm>
          <a:prstGeom prst="roundRect">
            <a:avLst/>
          </a:prstGeom>
          <a:solidFill>
            <a:srgbClr val="FFFFFF"/>
          </a:solidFill>
          <a:ln w="12700">
            <a:solidFill>
              <a:srgbClr val="DCE6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09559" y="4114800"/>
            <a:ext cx="3364992" cy="1965960"/>
          </a:xfrm>
          <a:prstGeom prst="rect">
            <a:avLst/>
          </a:prstGeom>
          <a:noFill/>
        </p:spPr>
        <p:txBody>
          <a:bodyPr wrap="square">
            <a:spAutoFit/>
          </a:bodyPr>
          <a:lstStyle/>
          <a:p>
            <a:pPr>
              <a:defRPr sz="1500" b="1">
                <a:solidFill>
                  <a:srgbClr val="007E87"/>
                </a:solidFill>
                <a:latin typeface="Aptos"/>
              </a:defRPr>
            </a:pPr>
            <a:r>
              <a:t>Diurnal Commuter Tidal Reversals</a:t>
            </a:r>
          </a:p>
          <a:p>
            <a:pPr>
              <a:spcBef>
                <a:spcPts val="400"/>
              </a:spcBef>
            </a:pPr>
            <a:r>
              <a:rPr b="1" sz="1000">
                <a:solidFill>
                  <a:srgbClr val="12313A"/>
                </a:solidFill>
              </a:rPr>
              <a:t>• Residential Feeders: </a:t>
            </a:r>
            <a:r>
              <a:rPr sz="950">
                <a:solidFill>
                  <a:srgbClr val="547078"/>
                </a:solidFill>
              </a:rPr>
              <a:t>Sompasaari empties in the morning (-7,973 net flow) and fills up in the evening (+2,808 net flow).</a:t>
            </a:r>
          </a:p>
          <a:p>
            <a:pPr>
              <a:spcBef>
                <a:spcPts val="400"/>
              </a:spcBef>
            </a:pPr>
            <a:r>
              <a:rPr b="1" sz="1000">
                <a:solidFill>
                  <a:srgbClr val="12313A"/>
                </a:solidFill>
              </a:rPr>
              <a:t>• Workplace Centers: </a:t>
            </a:r>
            <a:r>
              <a:rPr sz="950">
                <a:solidFill>
                  <a:srgbClr val="547078"/>
                </a:solidFill>
              </a:rPr>
              <a:t>Salmisaarenranta fills in the morning (+7,343 net flow) and empties in the evening (-5,244 net flow).</a:t>
            </a:r>
          </a:p>
          <a:p>
            <a:pPr>
              <a:spcBef>
                <a:spcPts val="400"/>
              </a:spcBef>
            </a:pPr>
            <a:r>
              <a:rPr b="1" sz="1000">
                <a:solidFill>
                  <a:srgbClr val="12313A"/>
                </a:solidFill>
              </a:rPr>
              <a:t>• Transit Interchanges: </a:t>
            </a:r>
            <a:r>
              <a:rPr sz="950">
                <a:solidFill>
                  <a:srgbClr val="547078"/>
                </a:solidFill>
              </a:rPr>
              <a:t>Pasila rail station remains in deficit all day (-2.6k morning, -2.6k evening).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AFA"/>
        </a:solidFill>
        <a:effectLst/>
      </p:bgPr>
    </p:bg>
    <p:spTree>
      <p:nvGrpSpPr>
        <p:cNvPr id="1" name=""/>
        <p:cNvGrpSpPr/>
        <p:nvPr/>
      </p:nvGrpSpPr>
      <p:grpSpPr/>
      <p:sp>
        <p:nvSpPr>
          <p:cNvPr id="2" name="TextBox 1"/>
          <p:cNvSpPr txBox="1"/>
          <p:nvPr/>
        </p:nvSpPr>
        <p:spPr>
          <a:xfrm>
            <a:off x="731520" y="347472"/>
            <a:ext cx="9601200" cy="274320"/>
          </a:xfrm>
          <a:prstGeom prst="rect">
            <a:avLst/>
          </a:prstGeom>
          <a:noFill/>
        </p:spPr>
        <p:txBody>
          <a:bodyPr wrap="square" lIns="0" rIns="0" tIns="0" bIns="0">
            <a:spAutoFit/>
          </a:bodyPr>
          <a:lstStyle/>
          <a:p>
            <a:pPr>
              <a:defRPr sz="1100" b="1">
                <a:solidFill>
                  <a:srgbClr val="007E87"/>
                </a:solidFill>
                <a:latin typeface="Aptos"/>
              </a:defRPr>
            </a:pPr>
            <a:r>
              <a:t>04 | REBALANCING TRIAGE</a:t>
            </a:r>
          </a:p>
        </p:txBody>
      </p:sp>
      <p:sp>
        <p:nvSpPr>
          <p:cNvPr id="3" name="TextBox 2"/>
          <p:cNvSpPr txBox="1"/>
          <p:nvPr/>
        </p:nvSpPr>
        <p:spPr>
          <a:xfrm>
            <a:off x="731520" y="621792"/>
            <a:ext cx="10058400" cy="502920"/>
          </a:xfrm>
          <a:prstGeom prst="rect">
            <a:avLst/>
          </a:prstGeom>
          <a:noFill/>
        </p:spPr>
        <p:txBody>
          <a:bodyPr wrap="square" lIns="0" rIns="0" tIns="0" bIns="0">
            <a:spAutoFit/>
          </a:bodyPr>
          <a:lstStyle/>
          <a:p>
            <a:pPr>
              <a:defRPr sz="2300" b="1">
                <a:solidFill>
                  <a:srgbClr val="12313A"/>
                </a:solidFill>
                <a:latin typeface="Aptos"/>
              </a:defRPr>
            </a:pPr>
            <a:r>
              <a:t>Directional Net Flow Pinpoints Systemic Rebalancing Bottlenecks</a:t>
            </a:r>
          </a:p>
        </p:txBody>
      </p:sp>
      <p:sp>
        <p:nvSpPr>
          <p:cNvPr id="4" name="TextBox 3"/>
          <p:cNvSpPr txBox="1"/>
          <p:nvPr/>
        </p:nvSpPr>
        <p:spPr>
          <a:xfrm>
            <a:off x="731520" y="1133856"/>
            <a:ext cx="10058400" cy="347472"/>
          </a:xfrm>
          <a:prstGeom prst="rect">
            <a:avLst/>
          </a:prstGeom>
          <a:noFill/>
        </p:spPr>
        <p:txBody>
          <a:bodyPr wrap="square" lIns="0" rIns="0" tIns="0" bIns="0">
            <a:spAutoFit/>
          </a:bodyPr>
          <a:lstStyle/>
          <a:p>
            <a:pPr>
              <a:defRPr sz="1250">
                <a:solidFill>
                  <a:srgbClr val="547078"/>
                </a:solidFill>
                <a:latin typeface="Aptos"/>
              </a:defRPr>
            </a:pPr>
            <a:r>
              <a:t>Cumulative Net Flow (Returns - Departures) Across 454 Coordinate Stations (2024–2025)</a:t>
            </a:r>
          </a:p>
        </p:txBody>
      </p:sp>
      <p:sp>
        <p:nvSpPr>
          <p:cNvPr id="5" name="TextBox 4"/>
          <p:cNvSpPr txBox="1"/>
          <p:nvPr/>
        </p:nvSpPr>
        <p:spPr>
          <a:xfrm>
            <a:off x="10515600" y="6309360"/>
            <a:ext cx="914400" cy="274320"/>
          </a:xfrm>
          <a:prstGeom prst="rect">
            <a:avLst/>
          </a:prstGeom>
          <a:noFill/>
        </p:spPr>
        <p:txBody>
          <a:bodyPr wrap="none" lIns="0" rIns="0" tIns="0" bIns="0">
            <a:spAutoFit/>
          </a:bodyPr>
          <a:lstStyle/>
          <a:p>
            <a:pPr algn="r">
              <a:defRPr sz="1100" b="1">
                <a:solidFill>
                  <a:srgbClr val="547078"/>
                </a:solidFill>
                <a:latin typeface="Aptos"/>
              </a:defRPr>
            </a:pPr>
            <a:r>
              <a:t>04 / 06</a:t>
            </a:r>
          </a:p>
        </p:txBody>
      </p:sp>
      <p:pic>
        <p:nvPicPr>
          <p:cNvPr id="6" name="Picture 5" descr="fig3_station_net_flow_map.png"/>
          <p:cNvPicPr>
            <a:picLocks noChangeAspect="1"/>
          </p:cNvPicPr>
          <p:nvPr/>
        </p:nvPicPr>
        <p:blipFill>
          <a:blip r:embed="rId2"/>
          <a:stretch>
            <a:fillRect/>
          </a:stretch>
        </p:blipFill>
        <p:spPr>
          <a:xfrm>
            <a:off x="731520" y="1645920"/>
            <a:ext cx="6309360" cy="4572000"/>
          </a:xfrm>
          <a:prstGeom prst="rect">
            <a:avLst/>
          </a:prstGeom>
        </p:spPr>
      </p:pic>
      <p:sp>
        <p:nvSpPr>
          <p:cNvPr id="7" name="Rounded Rectangle 6"/>
          <p:cNvSpPr/>
          <p:nvPr/>
        </p:nvSpPr>
        <p:spPr>
          <a:xfrm>
            <a:off x="7269480" y="1645920"/>
            <a:ext cx="4187952" cy="2148840"/>
          </a:xfrm>
          <a:prstGeom prst="roundRect">
            <a:avLst/>
          </a:prstGeom>
          <a:solidFill>
            <a:srgbClr val="FFFFFF"/>
          </a:solidFill>
          <a:ln w="12700">
            <a:solidFill>
              <a:srgbClr val="DCE6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52360" y="1783080"/>
            <a:ext cx="3822192" cy="1874519"/>
          </a:xfrm>
          <a:prstGeom prst="rect">
            <a:avLst/>
          </a:prstGeom>
          <a:noFill/>
        </p:spPr>
        <p:txBody>
          <a:bodyPr wrap="square">
            <a:spAutoFit/>
          </a:bodyPr>
          <a:lstStyle/>
          <a:p>
            <a:pPr>
              <a:defRPr sz="1500" b="1">
                <a:solidFill>
                  <a:srgbClr val="D45C39"/>
                </a:solidFill>
                <a:latin typeface="Aptos"/>
              </a:defRPr>
            </a:pPr>
            <a:r>
              <a:t>Deficit Sinks (Red, Bike Depletion)</a:t>
            </a:r>
          </a:p>
          <a:p>
            <a:pPr>
              <a:spcBef>
                <a:spcPts val="400"/>
              </a:spcBef>
            </a:pPr>
            <a:r>
              <a:rPr b="1" sz="1000">
                <a:solidFill>
                  <a:srgbClr val="12313A"/>
                </a:solidFill>
              </a:rPr>
              <a:t>• Pasila Rail Interchange: </a:t>
            </a:r>
            <a:r>
              <a:rPr sz="950">
                <a:solidFill>
                  <a:srgbClr val="547078"/>
                </a:solidFill>
              </a:rPr>
              <a:t>Chronic primary sink with -11,014 net trips (capacity: 40); disembarking train commuters bike to offices.</a:t>
            </a:r>
          </a:p>
          <a:p>
            <a:pPr>
              <a:spcBef>
                <a:spcPts val="400"/>
              </a:spcBef>
            </a:pPr>
            <a:r>
              <a:rPr b="1" sz="1000">
                <a:solidFill>
                  <a:srgbClr val="12313A"/>
                </a:solidFill>
              </a:rPr>
              <a:t>• Radial Arterials: </a:t>
            </a:r>
            <a:r>
              <a:rPr sz="950">
                <a:solidFill>
                  <a:srgbClr val="547078"/>
                </a:solidFill>
              </a:rPr>
              <a:t>Mäkelänkatu (-5,275), Opastinsilta (-5,049), and Karhupuisto (-4,421) suffer rapid bicycle exhaustion.</a:t>
            </a:r>
          </a:p>
          <a:p>
            <a:pPr>
              <a:spcBef>
                <a:spcPts val="400"/>
              </a:spcBef>
            </a:pPr>
            <a:r>
              <a:rPr b="1" sz="1000">
                <a:solidFill>
                  <a:srgbClr val="12313A"/>
                </a:solidFill>
              </a:rPr>
              <a:t>• Operational Implication: </a:t>
            </a:r>
            <a:r>
              <a:rPr sz="950">
                <a:solidFill>
                  <a:srgbClr val="547078"/>
                </a:solidFill>
              </a:rPr>
              <a:t>Priority candidates for pre-staging bicycle supplies before morning rush.</a:t>
            </a:r>
          </a:p>
        </p:txBody>
      </p:sp>
      <p:sp>
        <p:nvSpPr>
          <p:cNvPr id="9" name="Rounded Rectangle 8"/>
          <p:cNvSpPr/>
          <p:nvPr/>
        </p:nvSpPr>
        <p:spPr>
          <a:xfrm>
            <a:off x="7269480" y="3977639"/>
            <a:ext cx="4187952" cy="2240280"/>
          </a:xfrm>
          <a:prstGeom prst="roundRect">
            <a:avLst/>
          </a:prstGeom>
          <a:solidFill>
            <a:srgbClr val="FFFFFF"/>
          </a:solidFill>
          <a:ln w="12700">
            <a:solidFill>
              <a:srgbClr val="DCE6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52360" y="4114800"/>
            <a:ext cx="3822192" cy="1965960"/>
          </a:xfrm>
          <a:prstGeom prst="rect">
            <a:avLst/>
          </a:prstGeom>
          <a:noFill/>
        </p:spPr>
        <p:txBody>
          <a:bodyPr wrap="square">
            <a:spAutoFit/>
          </a:bodyPr>
          <a:lstStyle/>
          <a:p>
            <a:pPr>
              <a:defRPr sz="1500" b="1">
                <a:solidFill>
                  <a:srgbClr val="2B5C8F"/>
                </a:solidFill>
                <a:latin typeface="Aptos"/>
              </a:defRPr>
            </a:pPr>
            <a:r>
              <a:t>Surplus Sources (Blue, Dock Congestion)</a:t>
            </a:r>
          </a:p>
          <a:p>
            <a:pPr>
              <a:spcBef>
                <a:spcPts val="400"/>
              </a:spcBef>
            </a:pPr>
            <a:r>
              <a:rPr b="1" sz="1000">
                <a:solidFill>
                  <a:srgbClr val="12313A"/>
                </a:solidFill>
              </a:rPr>
              <a:t>• Destination Accumulators: </a:t>
            </a:r>
            <a:r>
              <a:rPr sz="950">
                <a:solidFill>
                  <a:srgbClr val="547078"/>
                </a:solidFill>
              </a:rPr>
              <a:t>Waterfront and dining clusters: Unioninkatu (+3,474), Kanavaranta (+3,081), Kalasatama (+2,140).</a:t>
            </a:r>
          </a:p>
          <a:p>
            <a:pPr>
              <a:spcBef>
                <a:spcPts val="400"/>
              </a:spcBef>
            </a:pPr>
            <a:r>
              <a:rPr b="1" sz="1000">
                <a:solidFill>
                  <a:srgbClr val="12313A"/>
                </a:solidFill>
              </a:rPr>
              <a:t>• Dock Saturation Risk: </a:t>
            </a:r>
            <a:r>
              <a:rPr sz="950">
                <a:solidFill>
                  <a:srgbClr val="547078"/>
                </a:solidFill>
              </a:rPr>
              <a:t>High risk of return blocking where riders cannot find open slots to terminate trips.</a:t>
            </a:r>
          </a:p>
          <a:p>
            <a:pPr>
              <a:spcBef>
                <a:spcPts val="400"/>
              </a:spcBef>
            </a:pPr>
            <a:r>
              <a:rPr b="1" sz="1000">
                <a:solidFill>
                  <a:srgbClr val="12313A"/>
                </a:solidFill>
              </a:rPr>
              <a:t>• Triage Distinction: </a:t>
            </a:r>
            <a:r>
              <a:rPr sz="950">
                <a:solidFill>
                  <a:srgbClr val="547078"/>
                </a:solidFill>
              </a:rPr>
              <a:t>Net flow measures passenger drift, NOT exact truck loads. Van dispatch requires live dock occupancy telemetry.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AFA"/>
        </a:solidFill>
        <a:effectLst/>
      </p:bgPr>
    </p:bg>
    <p:spTree>
      <p:nvGrpSpPr>
        <p:cNvPr id="1" name=""/>
        <p:cNvGrpSpPr/>
        <p:nvPr/>
      </p:nvGrpSpPr>
      <p:grpSpPr/>
      <p:sp>
        <p:nvSpPr>
          <p:cNvPr id="2" name="TextBox 1"/>
          <p:cNvSpPr txBox="1"/>
          <p:nvPr/>
        </p:nvSpPr>
        <p:spPr>
          <a:xfrm>
            <a:off x="731520" y="347472"/>
            <a:ext cx="9601200" cy="274320"/>
          </a:xfrm>
          <a:prstGeom prst="rect">
            <a:avLst/>
          </a:prstGeom>
          <a:noFill/>
        </p:spPr>
        <p:txBody>
          <a:bodyPr wrap="square" lIns="0" rIns="0" tIns="0" bIns="0">
            <a:spAutoFit/>
          </a:bodyPr>
          <a:lstStyle/>
          <a:p>
            <a:pPr>
              <a:defRPr sz="1100" b="1">
                <a:solidFill>
                  <a:srgbClr val="007E87"/>
                </a:solidFill>
                <a:latin typeface="Aptos"/>
              </a:defRPr>
            </a:pPr>
            <a:r>
              <a:t>05 | DEMAND FORECASTING</a:t>
            </a:r>
          </a:p>
        </p:txBody>
      </p:sp>
      <p:sp>
        <p:nvSpPr>
          <p:cNvPr id="3" name="TextBox 2"/>
          <p:cNvSpPr txBox="1"/>
          <p:nvPr/>
        </p:nvSpPr>
        <p:spPr>
          <a:xfrm>
            <a:off x="731520" y="621792"/>
            <a:ext cx="10058400" cy="502920"/>
          </a:xfrm>
          <a:prstGeom prst="rect">
            <a:avLst/>
          </a:prstGeom>
          <a:noFill/>
        </p:spPr>
        <p:txBody>
          <a:bodyPr wrap="square" lIns="0" rIns="0" tIns="0" bIns="0">
            <a:spAutoFit/>
          </a:bodyPr>
          <a:lstStyle/>
          <a:p>
            <a:pPr>
              <a:defRPr sz="2300" b="1">
                <a:solidFill>
                  <a:srgbClr val="12313A"/>
                </a:solidFill>
                <a:latin typeface="Aptos"/>
              </a:defRPr>
            </a:pPr>
            <a:r>
              <a:t>Previous-Year Same-Month Baseline Minimizes Demand Forecast Error</a:t>
            </a:r>
          </a:p>
        </p:txBody>
      </p:sp>
      <p:sp>
        <p:nvSpPr>
          <p:cNvPr id="4" name="TextBox 3"/>
          <p:cNvSpPr txBox="1"/>
          <p:nvPr/>
        </p:nvSpPr>
        <p:spPr>
          <a:xfrm>
            <a:off x="731520" y="1133856"/>
            <a:ext cx="10058400" cy="347472"/>
          </a:xfrm>
          <a:prstGeom prst="rect">
            <a:avLst/>
          </a:prstGeom>
          <a:noFill/>
        </p:spPr>
        <p:txBody>
          <a:bodyPr wrap="square" lIns="0" rIns="0" tIns="0" bIns="0">
            <a:spAutoFit/>
          </a:bodyPr>
          <a:lstStyle/>
          <a:p>
            <a:pPr>
              <a:defRPr sz="1250">
                <a:solidFill>
                  <a:srgbClr val="547078"/>
                </a:solidFill>
                <a:latin typeface="Aptos"/>
              </a:defRPr>
            </a:pPr>
            <a:r>
              <a:t>2025 Out-of-Time Backtest (N=2,718 Matched Station-Months; Unit: Trips / Station-Month)</a:t>
            </a:r>
          </a:p>
        </p:txBody>
      </p:sp>
      <p:sp>
        <p:nvSpPr>
          <p:cNvPr id="5" name="TextBox 4"/>
          <p:cNvSpPr txBox="1"/>
          <p:nvPr/>
        </p:nvSpPr>
        <p:spPr>
          <a:xfrm>
            <a:off x="10515600" y="6309360"/>
            <a:ext cx="914400" cy="274320"/>
          </a:xfrm>
          <a:prstGeom prst="rect">
            <a:avLst/>
          </a:prstGeom>
          <a:noFill/>
        </p:spPr>
        <p:txBody>
          <a:bodyPr wrap="none" lIns="0" rIns="0" tIns="0" bIns="0">
            <a:spAutoFit/>
          </a:bodyPr>
          <a:lstStyle/>
          <a:p>
            <a:pPr algn="r">
              <a:defRPr sz="1100" b="1">
                <a:solidFill>
                  <a:srgbClr val="547078"/>
                </a:solidFill>
                <a:latin typeface="Aptos"/>
              </a:defRPr>
            </a:pPr>
            <a:r>
              <a:t>05 / 06</a:t>
            </a:r>
          </a:p>
        </p:txBody>
      </p:sp>
      <p:pic>
        <p:nvPicPr>
          <p:cNvPr id="6" name="Picture 5" descr="fig7_forecast_evaluation_actual_vs_baseline_2025.png"/>
          <p:cNvPicPr>
            <a:picLocks noChangeAspect="1"/>
          </p:cNvPicPr>
          <p:nvPr/>
        </p:nvPicPr>
        <p:blipFill>
          <a:blip r:embed="rId2"/>
          <a:stretch>
            <a:fillRect/>
          </a:stretch>
        </p:blipFill>
        <p:spPr>
          <a:xfrm>
            <a:off x="731520" y="1645920"/>
            <a:ext cx="6766560" cy="4572000"/>
          </a:xfrm>
          <a:prstGeom prst="rect">
            <a:avLst/>
          </a:prstGeom>
        </p:spPr>
      </p:pic>
      <p:sp>
        <p:nvSpPr>
          <p:cNvPr id="7" name="Rounded Rectangle 6"/>
          <p:cNvSpPr/>
          <p:nvPr/>
        </p:nvSpPr>
        <p:spPr>
          <a:xfrm>
            <a:off x="7726679" y="1645920"/>
            <a:ext cx="3730752" cy="2148840"/>
          </a:xfrm>
          <a:prstGeom prst="roundRect">
            <a:avLst/>
          </a:prstGeom>
          <a:solidFill>
            <a:srgbClr val="FFFFFF"/>
          </a:solidFill>
          <a:ln w="12700">
            <a:solidFill>
              <a:srgbClr val="DCE6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09559" y="1783080"/>
            <a:ext cx="3364992" cy="1874519"/>
          </a:xfrm>
          <a:prstGeom prst="rect">
            <a:avLst/>
          </a:prstGeom>
          <a:noFill/>
        </p:spPr>
        <p:txBody>
          <a:bodyPr wrap="square">
            <a:spAutoFit/>
          </a:bodyPr>
          <a:lstStyle/>
          <a:p>
            <a:pPr>
              <a:defRPr sz="1500" b="1">
                <a:solidFill>
                  <a:srgbClr val="007E87"/>
                </a:solidFill>
                <a:latin typeface="Aptos"/>
              </a:defRPr>
            </a:pPr>
            <a:r>
              <a:t>Baseline Lowest Volume Error (17.6%)</a:t>
            </a:r>
          </a:p>
          <a:p>
            <a:pPr>
              <a:spcBef>
                <a:spcPts val="400"/>
              </a:spcBef>
            </a:pPr>
            <a:r>
              <a:rPr b="1" sz="1000">
                <a:solidFill>
                  <a:srgbClr val="12313A"/>
                </a:solidFill>
              </a:rPr>
              <a:t>• Historical Baseline: </a:t>
            </a:r>
            <a:r>
              <a:rPr sz="950">
                <a:solidFill>
                  <a:srgbClr val="547078"/>
                </a:solidFill>
              </a:rPr>
              <a:t>Same-month previous-year achieves 17.58% WAPE (MAE: 141.9 trips/month).</a:t>
            </a:r>
          </a:p>
          <a:p>
            <a:pPr>
              <a:spcBef>
                <a:spcPts val="400"/>
              </a:spcBef>
            </a:pPr>
            <a:r>
              <a:rPr b="1" sz="1000">
                <a:solidFill>
                  <a:srgbClr val="12313A"/>
                </a:solidFill>
              </a:rPr>
              <a:t>• Absorbs Nordic Shifts: </a:t>
            </a:r>
            <a:r>
              <a:rPr sz="950">
                <a:solidFill>
                  <a:srgbClr val="547078"/>
                </a:solidFill>
              </a:rPr>
              <a:t>Naturally aligns with solar daylight and academic calendars without transitional lag delay, beating Decision Trees (24.7%) and Ridge (28.0%).</a:t>
            </a:r>
          </a:p>
          <a:p>
            <a:pPr>
              <a:spcBef>
                <a:spcPts val="400"/>
              </a:spcBef>
            </a:pPr>
            <a:r>
              <a:rPr b="1" sz="1000">
                <a:solidFill>
                  <a:srgbClr val="12313A"/>
                </a:solidFill>
              </a:rPr>
              <a:t>• Macro Sizing Role: </a:t>
            </a:r>
            <a:r>
              <a:rPr sz="950">
                <a:solidFill>
                  <a:srgbClr val="547078"/>
                </a:solidFill>
              </a:rPr>
              <a:t>Highly effective for seasonal fleet sizing and monthly station quotas.</a:t>
            </a:r>
          </a:p>
        </p:txBody>
      </p:sp>
      <p:sp>
        <p:nvSpPr>
          <p:cNvPr id="9" name="Rounded Rectangle 8"/>
          <p:cNvSpPr/>
          <p:nvPr/>
        </p:nvSpPr>
        <p:spPr>
          <a:xfrm>
            <a:off x="7726679" y="3977639"/>
            <a:ext cx="3730752" cy="2240280"/>
          </a:xfrm>
          <a:prstGeom prst="roundRect">
            <a:avLst/>
          </a:prstGeom>
          <a:solidFill>
            <a:srgbClr val="FFFFFF"/>
          </a:solidFill>
          <a:ln w="12700">
            <a:solidFill>
              <a:srgbClr val="DCE6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09559" y="4114800"/>
            <a:ext cx="3364992" cy="1965960"/>
          </a:xfrm>
          <a:prstGeom prst="rect">
            <a:avLst/>
          </a:prstGeom>
          <a:noFill/>
        </p:spPr>
        <p:txBody>
          <a:bodyPr wrap="square">
            <a:spAutoFit/>
          </a:bodyPr>
          <a:lstStyle/>
          <a:p>
            <a:pPr>
              <a:defRPr sz="1500" b="1">
                <a:solidFill>
                  <a:srgbClr val="007E87"/>
                </a:solidFill>
                <a:latin typeface="Aptos"/>
              </a:defRPr>
            </a:pPr>
            <a:r>
              <a:t>Complementary Tools &amp; Methodological Unit</a:t>
            </a:r>
          </a:p>
          <a:p>
            <a:pPr>
              <a:spcBef>
                <a:spcPts val="400"/>
              </a:spcBef>
            </a:pPr>
            <a:r>
              <a:rPr b="1" sz="1000">
                <a:solidFill>
                  <a:srgbClr val="12313A"/>
                </a:solidFill>
              </a:rPr>
              <a:t>• Ridge for Deficit Ranks: </a:t>
            </a:r>
            <a:r>
              <a:rPr sz="950">
                <a:solidFill>
                  <a:srgbClr val="547078"/>
                </a:solidFill>
              </a:rPr>
              <a:t>Ridge regression captures 65%–80% of Top-20 deficit stations in May–August (Spearman ρ = 0.76).</a:t>
            </a:r>
          </a:p>
          <a:p>
            <a:pPr>
              <a:spcBef>
                <a:spcPts val="400"/>
              </a:spcBef>
            </a:pPr>
            <a:r>
              <a:rPr b="1" sz="1000">
                <a:solidFill>
                  <a:srgbClr val="12313A"/>
                </a:solidFill>
              </a:rPr>
              <a:t>• Metric Definition: </a:t>
            </a:r>
            <a:r>
              <a:rPr sz="950">
                <a:solidFill>
                  <a:srgbClr val="547078"/>
                </a:solidFill>
              </a:rPr>
              <a:t>MAE is measured in completed trips/month, NOT physical bicycle stock.</a:t>
            </a:r>
          </a:p>
          <a:p>
            <a:pPr>
              <a:spcBef>
                <a:spcPts val="400"/>
              </a:spcBef>
            </a:pPr>
            <a:r>
              <a:rPr b="1" sz="1000">
                <a:solidFill>
                  <a:srgbClr val="12313A"/>
                </a:solidFill>
              </a:rPr>
              <a:t>• Preliminary Benchmark: </a:t>
            </a:r>
            <a:r>
              <a:rPr sz="950">
                <a:solidFill>
                  <a:srgbClr val="547078"/>
                </a:solidFill>
              </a:rPr>
              <a:t>Evaluated on a single 2025 backtest season; serves as an empirical reference, not definitive proof.</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AFA"/>
        </a:solidFill>
        <a:effectLst/>
      </p:bgPr>
    </p:bg>
    <p:spTree>
      <p:nvGrpSpPr>
        <p:cNvPr id="1" name=""/>
        <p:cNvGrpSpPr/>
        <p:nvPr/>
      </p:nvGrpSpPr>
      <p:grpSpPr/>
      <p:sp>
        <p:nvSpPr>
          <p:cNvPr id="2" name="TextBox 1"/>
          <p:cNvSpPr txBox="1"/>
          <p:nvPr/>
        </p:nvSpPr>
        <p:spPr>
          <a:xfrm>
            <a:off x="731520" y="347472"/>
            <a:ext cx="9601200" cy="274320"/>
          </a:xfrm>
          <a:prstGeom prst="rect">
            <a:avLst/>
          </a:prstGeom>
          <a:noFill/>
        </p:spPr>
        <p:txBody>
          <a:bodyPr wrap="square" lIns="0" rIns="0" tIns="0" bIns="0">
            <a:spAutoFit/>
          </a:bodyPr>
          <a:lstStyle/>
          <a:p>
            <a:pPr>
              <a:defRPr sz="1100" b="1">
                <a:solidFill>
                  <a:srgbClr val="007E87"/>
                </a:solidFill>
                <a:latin typeface="Aptos"/>
              </a:defRPr>
            </a:pPr>
            <a:r>
              <a:t>06 | OPERATIONAL CONCLUSIONS</a:t>
            </a:r>
          </a:p>
        </p:txBody>
      </p:sp>
      <p:sp>
        <p:nvSpPr>
          <p:cNvPr id="3" name="TextBox 2"/>
          <p:cNvSpPr txBox="1"/>
          <p:nvPr/>
        </p:nvSpPr>
        <p:spPr>
          <a:xfrm>
            <a:off x="731520" y="621792"/>
            <a:ext cx="10058400" cy="502920"/>
          </a:xfrm>
          <a:prstGeom prst="rect">
            <a:avLst/>
          </a:prstGeom>
          <a:noFill/>
        </p:spPr>
        <p:txBody>
          <a:bodyPr wrap="square" lIns="0" rIns="0" tIns="0" bIns="0">
            <a:spAutoFit/>
          </a:bodyPr>
          <a:lstStyle/>
          <a:p>
            <a:pPr>
              <a:defRPr sz="2300" b="1">
                <a:solidFill>
                  <a:srgbClr val="12313A"/>
                </a:solidFill>
                <a:latin typeface="Aptos"/>
              </a:defRPr>
            </a:pPr>
            <a:r>
              <a:t>Actionable Guidelines &amp; Methodological Guardrails for Operators</a:t>
            </a:r>
          </a:p>
        </p:txBody>
      </p:sp>
      <p:sp>
        <p:nvSpPr>
          <p:cNvPr id="4" name="TextBox 3"/>
          <p:cNvSpPr txBox="1"/>
          <p:nvPr/>
        </p:nvSpPr>
        <p:spPr>
          <a:xfrm>
            <a:off x="731520" y="1133856"/>
            <a:ext cx="10058400" cy="347472"/>
          </a:xfrm>
          <a:prstGeom prst="rect">
            <a:avLst/>
          </a:prstGeom>
          <a:noFill/>
        </p:spPr>
        <p:txBody>
          <a:bodyPr wrap="square" lIns="0" rIns="0" tIns="0" bIns="0">
            <a:spAutoFit/>
          </a:bodyPr>
          <a:lstStyle/>
          <a:p>
            <a:pPr>
              <a:defRPr sz="1250">
                <a:solidFill>
                  <a:srgbClr val="547078"/>
                </a:solidFill>
                <a:latin typeface="Aptos"/>
              </a:defRPr>
            </a:pPr>
            <a:r>
              <a:t>Empirical Recommendations for Seasonal Fleet Sizing, Triage &amp; Future Telemetry</a:t>
            </a:r>
          </a:p>
        </p:txBody>
      </p:sp>
      <p:sp>
        <p:nvSpPr>
          <p:cNvPr id="5" name="TextBox 4"/>
          <p:cNvSpPr txBox="1"/>
          <p:nvPr/>
        </p:nvSpPr>
        <p:spPr>
          <a:xfrm>
            <a:off x="10515600" y="6309360"/>
            <a:ext cx="914400" cy="274320"/>
          </a:xfrm>
          <a:prstGeom prst="rect">
            <a:avLst/>
          </a:prstGeom>
          <a:noFill/>
        </p:spPr>
        <p:txBody>
          <a:bodyPr wrap="none" lIns="0" rIns="0" tIns="0" bIns="0">
            <a:spAutoFit/>
          </a:bodyPr>
          <a:lstStyle/>
          <a:p>
            <a:pPr algn="r">
              <a:defRPr sz="1100" b="1">
                <a:solidFill>
                  <a:srgbClr val="547078"/>
                </a:solidFill>
                <a:latin typeface="Aptos"/>
              </a:defRPr>
            </a:pPr>
            <a:r>
              <a:t>06 / 06</a:t>
            </a:r>
          </a:p>
        </p:txBody>
      </p:sp>
      <p:sp>
        <p:nvSpPr>
          <p:cNvPr id="6" name="Rounded Rectangle 5"/>
          <p:cNvSpPr/>
          <p:nvPr/>
        </p:nvSpPr>
        <p:spPr>
          <a:xfrm>
            <a:off x="731520" y="1645920"/>
            <a:ext cx="3429000" cy="2743200"/>
          </a:xfrm>
          <a:prstGeom prst="roundRect">
            <a:avLst/>
          </a:prstGeom>
          <a:solidFill>
            <a:srgbClr val="FFFFFF"/>
          </a:solidFill>
          <a:ln w="12700">
            <a:solidFill>
              <a:srgbClr val="DCE6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10512"/>
            <a:ext cx="3063240" cy="2414016"/>
          </a:xfrm>
          <a:prstGeom prst="rect">
            <a:avLst/>
          </a:prstGeom>
          <a:noFill/>
        </p:spPr>
        <p:txBody>
          <a:bodyPr wrap="square">
            <a:spAutoFit/>
          </a:bodyPr>
          <a:lstStyle/>
          <a:p>
            <a:pPr>
              <a:defRPr sz="1600" b="1">
                <a:solidFill>
                  <a:srgbClr val="007E87"/>
                </a:solidFill>
                <a:latin typeface="Aptos"/>
              </a:defRPr>
            </a:pPr>
            <a:r>
              <a:t>1. Seasonal Fleet Sizing</a:t>
            </a:r>
          </a:p>
          <a:p>
            <a:pPr>
              <a:spcBef>
                <a:spcPts val="400"/>
              </a:spcBef>
              <a:defRPr sz="1100" b="1">
                <a:solidFill>
                  <a:srgbClr val="12313A"/>
                </a:solidFill>
                <a:latin typeface="Aptos"/>
              </a:defRPr>
            </a:pPr>
            <a:r>
              <a:t>Historical Baseline for Procurement</a:t>
            </a:r>
          </a:p>
          <a:p>
            <a:pPr>
              <a:spcBef>
                <a:spcPts val="600"/>
              </a:spcBef>
              <a:defRPr sz="1000">
                <a:solidFill>
                  <a:srgbClr val="547078"/>
                </a:solidFill>
                <a:latin typeface="Aptos"/>
              </a:defRPr>
            </a:pPr>
            <a:r>
              <a:t>Use the previous-year same-month baseline (17.6% WAPE) to establish macro seasonal bike fleet contracts and monthly depot allocations. It naturally captures northern climate shifts without lag error.</a:t>
            </a:r>
          </a:p>
        </p:txBody>
      </p:sp>
      <p:sp>
        <p:nvSpPr>
          <p:cNvPr id="8" name="Rounded Rectangle 7"/>
          <p:cNvSpPr/>
          <p:nvPr/>
        </p:nvSpPr>
        <p:spPr>
          <a:xfrm>
            <a:off x="4389120" y="1645920"/>
            <a:ext cx="3429000" cy="2743200"/>
          </a:xfrm>
          <a:prstGeom prst="roundRect">
            <a:avLst/>
          </a:prstGeom>
          <a:solidFill>
            <a:srgbClr val="FFFFFF"/>
          </a:solidFill>
          <a:ln w="12700">
            <a:solidFill>
              <a:srgbClr val="DCE6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1810512"/>
            <a:ext cx="3063240" cy="2414016"/>
          </a:xfrm>
          <a:prstGeom prst="rect">
            <a:avLst/>
          </a:prstGeom>
          <a:noFill/>
        </p:spPr>
        <p:txBody>
          <a:bodyPr wrap="square">
            <a:spAutoFit/>
          </a:bodyPr>
          <a:lstStyle/>
          <a:p>
            <a:pPr>
              <a:defRPr sz="1600" b="1">
                <a:solidFill>
                  <a:srgbClr val="D45C39"/>
                </a:solidFill>
                <a:latin typeface="Aptos"/>
              </a:defRPr>
            </a:pPr>
            <a:r>
              <a:t>2. Rebalancing Route Triage</a:t>
            </a:r>
          </a:p>
          <a:p>
            <a:pPr>
              <a:spcBef>
                <a:spcPts val="400"/>
              </a:spcBef>
              <a:defRPr sz="1100" b="1">
                <a:solidFill>
                  <a:srgbClr val="12313A"/>
                </a:solidFill>
                <a:latin typeface="Aptos"/>
              </a:defRPr>
            </a:pPr>
            <a:r>
              <a:t>Pre-Stage Prior to 16:00 Rush</a:t>
            </a:r>
          </a:p>
          <a:p>
            <a:pPr>
              <a:spcBef>
                <a:spcPts val="600"/>
              </a:spcBef>
              <a:defRPr sz="1000">
                <a:solidFill>
                  <a:srgbClr val="547078"/>
                </a:solidFill>
                <a:latin typeface="Aptos"/>
              </a:defRPr>
            </a:pPr>
            <a:r>
              <a:t>Target chronic transit sinks (Pasila rail hub, -11k net flow). Explore pre-staging bicycle redistribution prior to the afternoon peak (e.g. before 15:30) to absorb the +78% evening surge.</a:t>
            </a:r>
          </a:p>
        </p:txBody>
      </p:sp>
      <p:sp>
        <p:nvSpPr>
          <p:cNvPr id="10" name="Rounded Rectangle 9"/>
          <p:cNvSpPr/>
          <p:nvPr/>
        </p:nvSpPr>
        <p:spPr>
          <a:xfrm>
            <a:off x="8046720" y="1645920"/>
            <a:ext cx="3429000" cy="2743200"/>
          </a:xfrm>
          <a:prstGeom prst="roundRect">
            <a:avLst/>
          </a:prstGeom>
          <a:solidFill>
            <a:srgbClr val="FFFFFF"/>
          </a:solidFill>
          <a:ln w="12700">
            <a:solidFill>
              <a:srgbClr val="DCE6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1810512"/>
            <a:ext cx="3063240" cy="2414016"/>
          </a:xfrm>
          <a:prstGeom prst="rect">
            <a:avLst/>
          </a:prstGeom>
          <a:noFill/>
        </p:spPr>
        <p:txBody>
          <a:bodyPr wrap="square">
            <a:spAutoFit/>
          </a:bodyPr>
          <a:lstStyle/>
          <a:p>
            <a:pPr>
              <a:defRPr sz="1600" b="1">
                <a:solidFill>
                  <a:srgbClr val="2B5C8F"/>
                </a:solidFill>
                <a:latin typeface="Aptos"/>
              </a:defRPr>
            </a:pPr>
            <a:r>
              <a:t>3. Connect Live Telemetry</a:t>
            </a:r>
          </a:p>
          <a:p>
            <a:pPr>
              <a:spcBef>
                <a:spcPts val="400"/>
              </a:spcBef>
              <a:defRPr sz="1100" b="1">
                <a:solidFill>
                  <a:srgbClr val="12313A"/>
                </a:solidFill>
                <a:latin typeface="Aptos"/>
              </a:defRPr>
            </a:pPr>
            <a:r>
              <a:t>Integrate Real-Time Dock Sensors</a:t>
            </a:r>
          </a:p>
          <a:p>
            <a:pPr>
              <a:spcBef>
                <a:spcPts val="600"/>
              </a:spcBef>
              <a:defRPr sz="1000">
                <a:solidFill>
                  <a:srgbClr val="547078"/>
                </a:solidFill>
                <a:latin typeface="Aptos"/>
              </a:defRPr>
            </a:pPr>
            <a:r>
              <a:t>Pair monthly triage screening with real-time 15-minute dock occupancy feeds before issuing physical van dispatch orders. Net flow reflects macro passenger drift, not live dock fullness.</a:t>
            </a:r>
          </a:p>
        </p:txBody>
      </p:sp>
      <p:sp>
        <p:nvSpPr>
          <p:cNvPr id="12" name="Rounded Rectangle 11"/>
          <p:cNvSpPr/>
          <p:nvPr/>
        </p:nvSpPr>
        <p:spPr>
          <a:xfrm>
            <a:off x="731520" y="4572000"/>
            <a:ext cx="10725912" cy="1600200"/>
          </a:xfrm>
          <a:prstGeom prst="roundRect">
            <a:avLst/>
          </a:prstGeom>
          <a:solidFill>
            <a:srgbClr val="12313A"/>
          </a:solidFill>
          <a:ln w="12700">
            <a:solidFill>
              <a:srgbClr val="1231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4681728"/>
            <a:ext cx="10268712" cy="1380744"/>
          </a:xfrm>
          <a:prstGeom prst="rect">
            <a:avLst/>
          </a:prstGeom>
          <a:noFill/>
        </p:spPr>
        <p:txBody>
          <a:bodyPr wrap="square">
            <a:spAutoFit/>
          </a:bodyPr>
          <a:lstStyle/>
          <a:p>
            <a:pPr>
              <a:defRPr sz="1250" b="1">
                <a:solidFill>
                  <a:srgbClr val="A6DCDD"/>
                </a:solidFill>
                <a:latin typeface="Aptos"/>
              </a:defRPr>
            </a:pPr>
            <a:r>
              <a:t>Essential Methodological Boundaries (What the Data Does and Does Not Show):</a:t>
            </a:r>
          </a:p>
          <a:p>
            <a:pPr>
              <a:spcBef>
                <a:spcPts val="200"/>
              </a:spcBef>
              <a:defRPr sz="950">
                <a:solidFill>
                  <a:srgbClr val="FFFFFF"/>
                </a:solidFill>
                <a:latin typeface="Aptos"/>
              </a:defRPr>
            </a:pPr>
            <a:r>
              <a:t>• Weather = Retrospective FMI observations, strictly excluded from 2025 predictions; correlations reflect seasonal co-movement, not direct causality.</a:t>
            </a:r>
          </a:p>
          <a:p>
            <a:pPr>
              <a:spcBef>
                <a:spcPts val="200"/>
              </a:spcBef>
              <a:defRPr sz="950">
                <a:solidFill>
                  <a:srgbClr val="FFFFFF"/>
                </a:solidFill>
                <a:latin typeface="Aptos"/>
              </a:defRPr>
            </a:pPr>
            <a:r>
              <a:t>• MAE Unit = Trips per station-month, not missing bicycles. Bicycles circulate across multiple trips throughout each day.</a:t>
            </a:r>
          </a:p>
          <a:p>
            <a:pPr>
              <a:spcBef>
                <a:spcPts val="200"/>
              </a:spcBef>
              <a:defRPr sz="950">
                <a:solidFill>
                  <a:srgbClr val="FFFFFF"/>
                </a:solidFill>
                <a:latin typeface="Aptos"/>
              </a:defRPr>
            </a:pPr>
            <a:r>
              <a:t>• Net Flow ≠ Van Dispatch Workloads. Reflects 30-day directional passenger drift; diurnal reversals partially offset daytime flows.</a:t>
            </a:r>
          </a:p>
          <a:p>
            <a:pPr>
              <a:spcBef>
                <a:spcPts val="200"/>
              </a:spcBef>
              <a:defRPr sz="950">
                <a:solidFill>
                  <a:srgbClr val="FFFFFF"/>
                </a:solidFill>
                <a:latin typeface="Aptos"/>
              </a:defRPr>
            </a:pPr>
            <a:r>
              <a:t>• Single Test Cycle = 2025 represents an exploratory out-of-time benchmark; no claims of statistical significance or long-term superiority.</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1129</Words>
  <Application>Microsoft Office PowerPoint</Application>
  <DocSecurity>0</DocSecurity>
  <PresentationFormat>宽屏</PresentationFormat>
  <Paragraphs>111</Paragraphs>
  <Slides>9</Slides>
  <Notes>6</Notes>
  <HiddenSlides>0</HiddenSlides>
  <MMClips>0</MMClips>
  <ScaleCrop>false</ScaleCrop>
  <HeadingPairs>
    <vt:vector size="4" baseType="variant">
      <vt:variant>
        <vt:lpstr>主题</vt:lpstr>
      </vt:variant>
      <vt:variant>
        <vt:i4>1</vt:i4>
      </vt:variant>
      <vt:variant>
        <vt:lpstr>幻灯片标题</vt:lpstr>
      </vt:variant>
      <vt:variant>
        <vt:i4>9</vt:i4>
      </vt:variant>
    </vt:vector>
  </HeadingPairs>
  <TitlesOfParts>
    <vt:vector size="10" baseType="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chenyu wu</cp:lastModifiedBy>
  <cp:revision>2</cp:revision>
  <dcterms:created xsi:type="dcterms:W3CDTF">2026-10-12T07:17:48Z</dcterms:created>
  <dcterms:modified xsi:type="dcterms:W3CDTF">2026-10-13T21:14:47Z</dcterms:modified>
</cp:coreProperties>
</file>